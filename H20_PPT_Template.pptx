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554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232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6400800" cy="6400800"/>
          </a:xfrm>
          <a:prstGeom prst="ellipse">
            <a:avLst/>
          </a:prstGeom>
          <a:solidFill>
            <a:srgbClr val="7A0E1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84203" y="4559252"/>
            <a:ext cx="5486400" cy="5486400"/>
          </a:xfrm>
          <a:prstGeom prst="ellipse">
            <a:avLst/>
          </a:prstGeom>
          <a:solidFill>
            <a:srgbClr val="7A0E14">
              <a:alpha val="1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8919" y="1891229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D9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SUBMISSION TEMPLATE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1374186" y="2481331"/>
            <a:ext cx="9811512" cy="3657600"/>
          </a:xfrm>
          <a:prstGeom prst="rect">
            <a:avLst/>
          </a:prstGeom>
          <a:solidFill>
            <a:srgbClr val="161010"/>
          </a:solidFill>
          <a:ln w="12700">
            <a:solidFill>
              <a:srgbClr val="2A222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5"/>
          <p:cNvSpPr/>
          <p:nvPr/>
        </p:nvSpPr>
        <p:spPr>
          <a:xfrm>
            <a:off x="1554477" y="2628110"/>
            <a:ext cx="4352554" cy="288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100">
                <a:solidFill>
                  <a:srgbClr val="D91E27"/>
                </a:solidFill>
                <a:latin typeface="Calibri"/>
              </a:defRPr>
            </a:pPr>
            <a:r>
              <a:t>TEAM NAME</a:t>
            </a:r>
            <a:endParaRPr lang="en-US" sz="1400" dirty="0"/>
          </a:p>
          <a:p>
            <a:pPr>
              <a:lnSpc>
                <a:spcPct val="105000"/>
              </a:lnSpc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The Knowledge Knights</a:t>
            </a:r>
          </a:p>
        </p:txBody>
      </p:sp>
      <p:sp>
        <p:nvSpPr>
          <p:cNvPr id="10" name="Shape 6"/>
          <p:cNvSpPr/>
          <p:nvPr/>
        </p:nvSpPr>
        <p:spPr>
          <a:xfrm>
            <a:off x="1554477" y="3164118"/>
            <a:ext cx="4352554" cy="0"/>
          </a:xfrm>
          <a:prstGeom prst="line">
            <a:avLst/>
          </a:prstGeom>
          <a:noFill/>
          <a:ln w="12700">
            <a:solidFill>
              <a:srgbClr val="3A323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83762" y="2628110"/>
            <a:ext cx="4352554" cy="288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100">
                <a:solidFill>
                  <a:srgbClr val="D91E27"/>
                </a:solidFill>
                <a:latin typeface="Calibri"/>
              </a:defRPr>
            </a:pPr>
            <a:r>
              <a:t>TEAM ID</a:t>
            </a:r>
            <a:endParaRPr lang="en-US" sz="1400" dirty="0"/>
          </a:p>
          <a:p>
            <a:pPr>
              <a:lnSpc>
                <a:spcPct val="105000"/>
              </a:lnSpc>
              <a:spcAft>
                <a:spcPts val="200"/>
              </a:spcAft>
              <a:defRPr b="1" sz="1300">
                <a:solidFill>
                  <a:srgbClr val="FFFFFF"/>
                </a:solidFill>
                <a:latin typeface="Calibri"/>
              </a:defRPr>
            </a:pPr>
            <a:r>
              <a:t>CDT-09</a:t>
            </a:r>
          </a:p>
        </p:txBody>
      </p:sp>
      <p:sp>
        <p:nvSpPr>
          <p:cNvPr id="12" name="Shape 8"/>
          <p:cNvSpPr/>
          <p:nvPr/>
        </p:nvSpPr>
        <p:spPr>
          <a:xfrm>
            <a:off x="6383762" y="3164118"/>
            <a:ext cx="4352554" cy="0"/>
          </a:xfrm>
          <a:prstGeom prst="line">
            <a:avLst/>
          </a:prstGeom>
          <a:noFill/>
          <a:ln w="12700">
            <a:solidFill>
              <a:srgbClr val="3A3232"/>
            </a:solidFill>
            <a:prstDash val="solid"/>
          </a:ln>
        </p:spPr>
        <p:txBody>
          <a:bodyPr/>
          <a:lstStyle/>
          <a:p>
            <a:endParaRPr lang="en-IN" sz="2800" dirty="0"/>
          </a:p>
        </p:txBody>
      </p:sp>
      <p:sp>
        <p:nvSpPr>
          <p:cNvPr id="13" name="Text 9"/>
          <p:cNvSpPr/>
          <p:nvPr/>
        </p:nvSpPr>
        <p:spPr>
          <a:xfrm>
            <a:off x="1554477" y="3504276"/>
            <a:ext cx="4352554" cy="288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100">
                <a:solidFill>
                  <a:srgbClr val="D91E27"/>
                </a:solidFill>
                <a:latin typeface="Calibri"/>
              </a:defRPr>
            </a:pPr>
            <a:r>
              <a:t>PROBLEM STATEMENT NUMBER (PS ID)</a:t>
            </a:r>
            <a:endParaRPr lang="en-US" sz="1400" dirty="0"/>
          </a:p>
          <a:p>
            <a:pPr>
              <a:lnSpc>
                <a:spcPct val="105000"/>
              </a:lnSpc>
              <a:spcAft>
                <a:spcPts val="200"/>
              </a:spcAft>
              <a:defRPr b="1" sz="1150">
                <a:solidFill>
                  <a:srgbClr val="FFFFFF"/>
                </a:solidFill>
                <a:latin typeface="Calibri"/>
              </a:defRPr>
            </a:pPr>
            <a:r>
              <a:t>CDT-09 - FarmChain AI: Blockchain-Based Transparent Marketplace</a:t>
            </a:r>
          </a:p>
        </p:txBody>
      </p:sp>
      <p:sp>
        <p:nvSpPr>
          <p:cNvPr id="14" name="Shape 10"/>
          <p:cNvSpPr/>
          <p:nvPr/>
        </p:nvSpPr>
        <p:spPr>
          <a:xfrm>
            <a:off x="1554477" y="4040284"/>
            <a:ext cx="4352554" cy="0"/>
          </a:xfrm>
          <a:prstGeom prst="line">
            <a:avLst/>
          </a:prstGeom>
          <a:noFill/>
          <a:ln w="12700">
            <a:solidFill>
              <a:srgbClr val="3A323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83762" y="3504276"/>
            <a:ext cx="4352554" cy="288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100">
                <a:solidFill>
                  <a:srgbClr val="D91E27"/>
                </a:solidFill>
                <a:latin typeface="Calibri"/>
              </a:defRPr>
            </a:pPr>
            <a:r>
              <a:t>DOMAIN / THEME</a:t>
            </a:r>
            <a:endParaRPr lang="en-US" sz="1400" dirty="0"/>
          </a:p>
          <a:p>
            <a:pPr>
              <a:lnSpc>
                <a:spcPct val="105000"/>
              </a:lnSpc>
              <a:spcAft>
                <a:spcPts val="200"/>
              </a:spcAft>
              <a:defRPr b="1" sz="1250">
                <a:solidFill>
                  <a:srgbClr val="FFFFFF"/>
                </a:solidFill>
                <a:latin typeface="Calibri"/>
              </a:defRPr>
            </a:pPr>
            <a:r>
              <a:t>Cybersecurity &amp; Digital Trust</a:t>
            </a:r>
          </a:p>
        </p:txBody>
      </p:sp>
      <p:sp>
        <p:nvSpPr>
          <p:cNvPr id="16" name="Shape 12"/>
          <p:cNvSpPr/>
          <p:nvPr/>
        </p:nvSpPr>
        <p:spPr>
          <a:xfrm>
            <a:off x="6383762" y="4040284"/>
            <a:ext cx="4352554" cy="0"/>
          </a:xfrm>
          <a:prstGeom prst="line">
            <a:avLst/>
          </a:prstGeom>
          <a:noFill/>
          <a:ln w="12700">
            <a:solidFill>
              <a:srgbClr val="3A323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554477" y="4401058"/>
            <a:ext cx="3813848" cy="288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b="1" sz="1400">
                <a:solidFill>
                  <a:srgbClr val="D91E27"/>
                </a:solidFill>
              </a:defRPr>
            </a:pPr>
            <a:r>
              <a:t>TEAM MEMBERS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554477" y="4772140"/>
            <a:ext cx="4352554" cy="288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150">
                <a:solidFill>
                  <a:srgbClr val="FFFFFF"/>
                </a:solidFill>
                <a:latin typeface="Calibri"/>
              </a:defRPr>
            </a:pPr>
            <a:r>
              <a:t>1. Team Lead: Harish Raghavendra V</a:t>
            </a:r>
            <a:endParaRPr lang="en-US" sz="1200" dirty="0">
              <a:solidFill>
                <a:schemeClr val="bg1"/>
              </a:solidFill>
            </a:endParaRPr>
          </a:p>
          <a:p>
            <a:pPr>
              <a:lnSpc>
                <a:spcPct val="105000"/>
              </a:lnSpc>
              <a:spcAft>
                <a:spcPts val="200"/>
              </a:spcAft>
              <a:defRPr b="0" sz="1000">
                <a:solidFill>
                  <a:srgbClr val="EBEBEB"/>
                </a:solidFill>
                <a:latin typeface="Calibri"/>
              </a:defRPr>
            </a:pPr>
            <a:r>
              <a:t>Batch: 261223 | Dept: CSE(AIML) | Year: IV</a:t>
            </a:r>
          </a:p>
        </p:txBody>
      </p:sp>
      <p:sp>
        <p:nvSpPr>
          <p:cNvPr id="19" name="Shape 15"/>
          <p:cNvSpPr/>
          <p:nvPr/>
        </p:nvSpPr>
        <p:spPr>
          <a:xfrm>
            <a:off x="1554477" y="5184454"/>
            <a:ext cx="4352554" cy="0"/>
          </a:xfrm>
          <a:prstGeom prst="line">
            <a:avLst/>
          </a:prstGeom>
          <a:noFill/>
          <a:ln w="12700">
            <a:solidFill>
              <a:srgbClr val="3A323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83762" y="4772140"/>
            <a:ext cx="4352554" cy="288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150">
                <a:solidFill>
                  <a:srgbClr val="FFFFFF"/>
                </a:solidFill>
                <a:latin typeface="Calibri"/>
              </a:defRPr>
            </a:pPr>
            <a:r>
              <a:t>2. Member: Shanmugasundaram G</a:t>
            </a:r>
            <a:endParaRPr lang="en-US" sz="1200" dirty="0">
              <a:solidFill>
                <a:schemeClr val="bg1"/>
              </a:solidFill>
            </a:endParaRPr>
          </a:p>
          <a:p>
            <a:pPr>
              <a:lnSpc>
                <a:spcPct val="105000"/>
              </a:lnSpc>
              <a:spcAft>
                <a:spcPts val="200"/>
              </a:spcAft>
              <a:defRPr b="0" sz="1000">
                <a:solidFill>
                  <a:srgbClr val="EBEBEB"/>
                </a:solidFill>
                <a:latin typeface="Calibri"/>
              </a:defRPr>
            </a:pPr>
            <a:r>
              <a:t>Batch: 261095 | Dept: CSE | Year: IV (Sec B)</a:t>
            </a:r>
          </a:p>
        </p:txBody>
      </p:sp>
      <p:sp>
        <p:nvSpPr>
          <p:cNvPr id="21" name="Shape 17"/>
          <p:cNvSpPr/>
          <p:nvPr/>
        </p:nvSpPr>
        <p:spPr>
          <a:xfrm>
            <a:off x="6383762" y="5184454"/>
            <a:ext cx="4352554" cy="0"/>
          </a:xfrm>
          <a:prstGeom prst="line">
            <a:avLst/>
          </a:prstGeom>
          <a:noFill/>
          <a:ln w="12700">
            <a:solidFill>
              <a:srgbClr val="3A323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554477" y="5452457"/>
            <a:ext cx="4352554" cy="288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150">
                <a:solidFill>
                  <a:srgbClr val="FFFFFF"/>
                </a:solidFill>
                <a:latin typeface="Calibri"/>
              </a:defRPr>
            </a:pPr>
            <a:r>
              <a:t>3. Member: Radhika S</a:t>
            </a:r>
            <a:endParaRPr lang="en-US" sz="1200" dirty="0">
              <a:solidFill>
                <a:schemeClr val="bg1"/>
              </a:solidFill>
            </a:endParaRPr>
          </a:p>
          <a:p>
            <a:pPr>
              <a:lnSpc>
                <a:spcPct val="105000"/>
              </a:lnSpc>
              <a:spcAft>
                <a:spcPts val="200"/>
              </a:spcAft>
              <a:defRPr b="0" sz="1000">
                <a:solidFill>
                  <a:srgbClr val="EBEBEB"/>
                </a:solidFill>
                <a:latin typeface="Calibri"/>
              </a:defRPr>
            </a:pPr>
            <a:r>
              <a:t>Batch: 261238 | Dept: CSE(AIML) | Year: IV</a:t>
            </a:r>
          </a:p>
        </p:txBody>
      </p:sp>
      <p:sp>
        <p:nvSpPr>
          <p:cNvPr id="23" name="Shape 19"/>
          <p:cNvSpPr/>
          <p:nvPr/>
        </p:nvSpPr>
        <p:spPr>
          <a:xfrm>
            <a:off x="1554477" y="5864771"/>
            <a:ext cx="4352554" cy="0"/>
          </a:xfrm>
          <a:prstGeom prst="line">
            <a:avLst/>
          </a:prstGeom>
          <a:noFill/>
          <a:ln w="12700">
            <a:solidFill>
              <a:srgbClr val="3A323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83762" y="5452457"/>
            <a:ext cx="4352554" cy="288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150">
                <a:solidFill>
                  <a:srgbClr val="FFFFFF"/>
                </a:solidFill>
                <a:latin typeface="Calibri"/>
              </a:defRPr>
            </a:pPr>
            <a:r>
              <a:t>4. Member: Sujith Chavan</a:t>
            </a:r>
            <a:endParaRPr lang="en-US" sz="1200" dirty="0">
              <a:solidFill>
                <a:schemeClr val="bg1"/>
              </a:solidFill>
            </a:endParaRPr>
          </a:p>
          <a:p>
            <a:pPr>
              <a:lnSpc>
                <a:spcPct val="105000"/>
              </a:lnSpc>
              <a:spcAft>
                <a:spcPts val="200"/>
              </a:spcAft>
              <a:defRPr b="0" sz="1000">
                <a:solidFill>
                  <a:srgbClr val="EBEBEB"/>
                </a:solidFill>
                <a:latin typeface="Calibri"/>
              </a:defRPr>
            </a:pPr>
            <a:r>
              <a:t>Batch: 281107 | Dept: CSE | Year: II (Sec B)</a:t>
            </a:r>
          </a:p>
        </p:txBody>
      </p:sp>
      <p:sp>
        <p:nvSpPr>
          <p:cNvPr id="25" name="Shape 21"/>
          <p:cNvSpPr/>
          <p:nvPr/>
        </p:nvSpPr>
        <p:spPr>
          <a:xfrm>
            <a:off x="6383762" y="5864771"/>
            <a:ext cx="4352554" cy="0"/>
          </a:xfrm>
          <a:prstGeom prst="line">
            <a:avLst/>
          </a:prstGeom>
          <a:noFill/>
          <a:ln w="12700">
            <a:solidFill>
              <a:srgbClr val="3A323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57200" y="457200"/>
            <a:ext cx="320040" cy="25603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7" name="Shape 23"/>
          <p:cNvSpPr/>
          <p:nvPr/>
        </p:nvSpPr>
        <p:spPr>
          <a:xfrm>
            <a:off x="457200" y="457200"/>
            <a:ext cx="25603" cy="3200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8" name="Shape 24"/>
          <p:cNvSpPr/>
          <p:nvPr/>
        </p:nvSpPr>
        <p:spPr>
          <a:xfrm>
            <a:off x="11411712" y="6375197"/>
            <a:ext cx="320040" cy="25603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9" name="Shape 25"/>
          <p:cNvSpPr/>
          <p:nvPr/>
        </p:nvSpPr>
        <p:spPr>
          <a:xfrm>
            <a:off x="11706149" y="6080760"/>
            <a:ext cx="25603" cy="3200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30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7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HACKWELL 2.0 - SARANATHAN COLLEGE OF ENGINEERING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C3F127A-25E3-8C04-BE63-E790AF2E2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0865" y="395934"/>
            <a:ext cx="1275284" cy="127528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C01F4D8-9FC0-CDEB-E4BD-73798790B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69" y="457200"/>
            <a:ext cx="1225301" cy="122530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344B5BE-80F4-BDCB-2816-69F91773C360}"/>
              </a:ext>
            </a:extLst>
          </p:cNvPr>
          <p:cNvSpPr txBox="1"/>
          <p:nvPr/>
        </p:nvSpPr>
        <p:spPr>
          <a:xfrm>
            <a:off x="-13716" y="580172"/>
            <a:ext cx="121889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800" b="1" kern="0" spc="300" dirty="0">
                <a:solidFill>
                  <a:srgbClr val="D91E27"/>
                </a:solidFill>
                <a:ea typeface="Calibri" pitchFamily="34" charset="-122"/>
                <a:cs typeface="Calibri" pitchFamily="34" charset="-120"/>
              </a:rPr>
              <a:t>HACKWELL</a:t>
            </a:r>
            <a:r>
              <a:rPr lang="en-US" sz="2400" b="1" kern="0" spc="300" dirty="0">
                <a:solidFill>
                  <a:srgbClr val="D91E2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4800" b="1" kern="0" spc="300" dirty="0">
                <a:solidFill>
                  <a:srgbClr val="D91E27"/>
                </a:solidFill>
                <a:ea typeface="Calibri" pitchFamily="34" charset="-122"/>
                <a:cs typeface="Calibri" pitchFamily="34" charset="-120"/>
              </a:rPr>
              <a:t>2.0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 Statement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frame the problem you are solving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943600" cy="3931920"/>
          </a:xfrm>
          <a:prstGeom prst="rect">
            <a:avLst/>
          </a:prstGeom>
          <a:solidFill>
            <a:srgbClr val="161010"/>
          </a:solidFill>
          <a:ln w="12700">
            <a:solidFill>
              <a:srgbClr val="2A222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rot="2700000">
            <a:off x="1234440" y="2615184"/>
            <a:ext cx="91440" cy="91440"/>
          </a:xfrm>
          <a:prstGeom prst="rect">
            <a:avLst/>
          </a:prstGeom>
          <a:solidFill>
            <a:srgbClr val="D91E2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63040" y="25146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150">
                <a:solidFill>
                  <a:srgbClr val="D91E27"/>
                </a:solidFill>
                <a:latin typeface="Calibri"/>
              </a:defRPr>
            </a:pPr>
            <a:r>
              <a:t>What exact problem are you solving?</a:t>
            </a:r>
            <a:endParaRPr lang="en-US" sz="145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900">
                <a:solidFill>
                  <a:srgbClr val="EBEBEB"/>
                </a:solidFill>
                <a:latin typeface="Calibri"/>
              </a:defRPr>
            </a:pPr>
            <a:r>
              <a:t>• Farmers lose 40–60% of crop value to predatory middlemen and opaque commissions.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900">
                <a:solidFill>
                  <a:srgbClr val="EBEBEB"/>
                </a:solidFill>
                <a:latin typeface="Calibri"/>
              </a:defRPr>
            </a:pPr>
            <a:r>
              <a:t>• Arbitrary spot rates force distress sales without real-time mandi benchmark transparency.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900">
                <a:solidFill>
                  <a:srgbClr val="EBEBEB"/>
                </a:solidFill>
                <a:latin typeface="Calibri"/>
              </a:defRPr>
            </a:pPr>
            <a:r>
              <a:t>• Produce counterfeiting and lack of provenance risk consumer health with zero accountability.</a:t>
            </a:r>
          </a:p>
        </p:txBody>
      </p:sp>
      <p:sp>
        <p:nvSpPr>
          <p:cNvPr id="8" name="Shape 6"/>
          <p:cNvSpPr/>
          <p:nvPr/>
        </p:nvSpPr>
        <p:spPr>
          <a:xfrm rot="2700000">
            <a:off x="1240674" y="3665616"/>
            <a:ext cx="91440" cy="91440"/>
          </a:xfrm>
          <a:prstGeom prst="rect">
            <a:avLst/>
          </a:prstGeom>
          <a:solidFill>
            <a:srgbClr val="D91E2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442259" y="35798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  <a:spcAft>
                <a:spcPts val="200"/>
              </a:spcAft>
              <a:defRPr b="1" sz="1150">
                <a:solidFill>
                  <a:srgbClr val="D91E27"/>
                </a:solidFill>
                <a:latin typeface="Calibri"/>
              </a:defRPr>
            </a:pPr>
            <a:r>
              <a:t>Who is affected by this problem?</a:t>
            </a:r>
            <a:endParaRPr lang="en-US" sz="145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900">
                <a:solidFill>
                  <a:srgbClr val="EBEBEB"/>
                </a:solidFill>
                <a:latin typeface="Calibri"/>
              </a:defRPr>
            </a:pPr>
            <a:r>
              <a:t>• 140M+ Indian smallholder farmers facing low realization and delayed payment settlements.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900">
                <a:solidFill>
                  <a:srgbClr val="EBEBEB"/>
                </a:solidFill>
                <a:latin typeface="Calibri"/>
              </a:defRPr>
            </a:pPr>
            <a:r>
              <a:t>• Millions of retail consumers paying inflated prices for unverified, potentially fake produce.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900">
                <a:solidFill>
                  <a:srgbClr val="EBEBEB"/>
                </a:solidFill>
                <a:latin typeface="Calibri"/>
              </a:defRPr>
            </a:pPr>
            <a:r>
              <a:t>• Honest retailers &amp; aggregators unable to prove authenticity or quality compliance.</a:t>
            </a:r>
          </a:p>
        </p:txBody>
      </p:sp>
      <p:sp>
        <p:nvSpPr>
          <p:cNvPr id="10" name="Shape 8"/>
          <p:cNvSpPr/>
          <p:nvPr/>
        </p:nvSpPr>
        <p:spPr>
          <a:xfrm rot="2700000">
            <a:off x="1234439" y="4824707"/>
            <a:ext cx="91440" cy="91440"/>
          </a:xfrm>
          <a:prstGeom prst="rect">
            <a:avLst/>
          </a:prstGeom>
          <a:solidFill>
            <a:srgbClr val="D91E2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42259" y="4706485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  <a:spcAft>
                <a:spcPts val="200"/>
              </a:spcAft>
              <a:defRPr b="1" sz="1150">
                <a:solidFill>
                  <a:srgbClr val="D91E27"/>
                </a:solidFill>
                <a:latin typeface="Calibri"/>
              </a:defRPr>
            </a:pPr>
            <a:r>
              <a:t>Current Solutions &amp; Limitations</a:t>
            </a:r>
            <a:endParaRPr lang="en-US" sz="1450" dirty="0">
              <a:solidFill>
                <a:schemeClr val="bg1"/>
              </a:solidFill>
            </a:endParaRPr>
          </a:p>
          <a:p>
            <a:pPr>
              <a:lnSpc>
                <a:spcPct val="105000"/>
              </a:lnSpc>
              <a:spcAft>
                <a:spcPts val="200"/>
              </a:spcAft>
              <a:defRPr b="0" sz="900">
                <a:solidFill>
                  <a:srgbClr val="EBEBEB"/>
                </a:solidFill>
                <a:latin typeface="Calibri"/>
              </a:defRPr>
            </a:pPr>
            <a:r>
              <a:t>• APMC Mandis: Complex multi-middlemen cartels with non-transparent price manipulation.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900">
                <a:solidFill>
                  <a:srgbClr val="EBEBEB"/>
                </a:solidFill>
                <a:latin typeface="Calibri"/>
              </a:defRPr>
            </a:pPr>
            <a:r>
              <a:t>• Centralized E-commerce: High commission cuts (15–30%) with zero escrow payment security.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900">
                <a:solidFill>
                  <a:srgbClr val="EBEBEB"/>
                </a:solidFill>
                <a:latin typeface="Calibri"/>
              </a:defRPr>
            </a:pPr>
            <a:r>
              <a:t>• Paper Quality Certificates: Easily forged with no tamper-proof cryptographic audit trail.</a:t>
            </a:r>
          </a:p>
        </p:txBody>
      </p:sp>
      <p:sp>
        <p:nvSpPr>
          <p:cNvPr id="14" name="Shape 12"/>
          <p:cNvSpPr/>
          <p:nvPr/>
        </p:nvSpPr>
        <p:spPr>
          <a:xfrm>
            <a:off x="7132320" y="2148840"/>
            <a:ext cx="4233672" cy="3931920"/>
          </a:xfrm>
          <a:prstGeom prst="rect">
            <a:avLst/>
          </a:prstGeom>
          <a:solidFill>
            <a:srgbClr val="7A0E14">
              <a:alpha val="45000"/>
            </a:srgbClr>
          </a:solidFill>
          <a:ln w="12700">
            <a:solidFill>
              <a:srgbClr val="D91E2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52360" y="246888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b="1" sz="1300">
                <a:solidFill>
                  <a:srgbClr val="D91E27"/>
                </a:solidFill>
              </a:defRPr>
            </a:pPr>
            <a:r>
              <a:t>Problem Impact &amp; Scale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52360" y="2880360"/>
            <a:ext cx="35935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b="1" sz="1050">
                <a:solidFill>
                  <a:srgbClr val="FFFFFF"/>
                </a:solidFill>
              </a:defRPr>
            </a:pPr>
            <a:r>
              <a:t>Who is most affected?</a:t>
            </a:r>
          </a:p>
          <a:p>
            <a:pPr>
              <a:spcAft>
                <a:spcPts val="600"/>
              </a:spcAft>
              <a:defRPr sz="900">
                <a:solidFill>
                  <a:srgbClr val="DCDCDC"/>
                </a:solidFill>
              </a:defRPr>
            </a:pPr>
            <a:r>
              <a:t>140M+ Indian smallholder farmers &amp; millions of retail consumers nationwide.</a:t>
            </a:r>
          </a:p>
          <a:p>
            <a:pPr>
              <a:defRPr b="1" sz="1050">
                <a:solidFill>
                  <a:srgbClr val="FFFFFF"/>
                </a:solidFill>
              </a:defRPr>
            </a:pPr>
            <a:r>
              <a:t>Key Data Point:</a:t>
            </a:r>
          </a:p>
          <a:p>
            <a:pPr>
              <a:spcAft>
                <a:spcPts val="600"/>
              </a:spcAft>
              <a:defRPr sz="900">
                <a:solidFill>
                  <a:srgbClr val="DCDCDC"/>
                </a:solidFill>
              </a:defRPr>
            </a:pPr>
            <a:r>
              <a:t>40–60% crop value lost to middlemen; 0% escrow security in traditional trade.</a:t>
            </a:r>
          </a:p>
          <a:p>
            <a:pPr>
              <a:defRPr b="1" sz="1050">
                <a:solidFill>
                  <a:srgbClr val="FFFFFF"/>
                </a:solidFill>
              </a:defRPr>
            </a:pPr>
            <a:r>
              <a:t>Frequency / Urgency:</a:t>
            </a:r>
          </a:p>
          <a:p>
            <a:pPr>
              <a:defRPr sz="900">
                <a:solidFill>
                  <a:srgbClr val="DCDCDC"/>
                </a:solidFill>
              </a:defRPr>
            </a:pPr>
            <a:r>
              <a:t>Occurs daily across harvest cycles, causing severe farmer debt &amp; food fraud.</a:t>
            </a:r>
          </a:p>
        </p:txBody>
      </p:sp>
      <p:sp>
        <p:nvSpPr>
          <p:cNvPr id="17" name="Shape 15"/>
          <p:cNvSpPr/>
          <p:nvPr/>
        </p:nvSpPr>
        <p:spPr>
          <a:xfrm>
            <a:off x="457200" y="457200"/>
            <a:ext cx="320040" cy="25603"/>
          </a:xfrm>
          <a:prstGeom prst="rect">
            <a:avLst/>
          </a:prstGeom>
          <a:solidFill>
            <a:srgbClr val="D91E27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457200"/>
            <a:ext cx="25603" cy="320040"/>
          </a:xfrm>
          <a:prstGeom prst="rect">
            <a:avLst/>
          </a:prstGeom>
          <a:solidFill>
            <a:srgbClr val="D91E27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1411712" y="6375197"/>
            <a:ext cx="320040" cy="25603"/>
          </a:xfrm>
          <a:prstGeom prst="rect">
            <a:avLst/>
          </a:prstGeom>
          <a:solidFill>
            <a:srgbClr val="D91E27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1706149" y="6080760"/>
            <a:ext cx="25603" cy="320040"/>
          </a:xfrm>
          <a:prstGeom prst="rect">
            <a:avLst/>
          </a:prstGeom>
          <a:solidFill>
            <a:srgbClr val="D91E2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7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HACKWELL 2.0 - SARANATHAN COLLEGE OF ENGINEERING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1442259" y="2924380"/>
            <a:ext cx="4364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43BC03-6F58-487D-ECEC-91F1E7B09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342" y="145096"/>
            <a:ext cx="696779" cy="6967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Proposed Solution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idea, in plain terms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887170"/>
            <a:ext cx="10515600" cy="4233672"/>
          </a:xfrm>
          <a:prstGeom prst="rect">
            <a:avLst/>
          </a:prstGeom>
          <a:solidFill>
            <a:srgbClr val="161010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280160" y="2211224"/>
            <a:ext cx="91440" cy="914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122239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150">
                <a:solidFill>
                  <a:srgbClr val="D91E27"/>
                </a:solidFill>
                <a:latin typeface="Calibri"/>
              </a:defRPr>
            </a:pPr>
            <a:r>
              <a:t>Briefly explain the proposed solution — what it is and how it works</a:t>
            </a:r>
            <a:endParaRPr lang="en-US" sz="150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919">
                <a:solidFill>
                  <a:srgbClr val="EBEBEB"/>
                </a:solidFill>
                <a:latin typeface="Calibri"/>
              </a:defRPr>
            </a:pPr>
            <a:r>
              <a:t>FarmChain AI is a decentralized Web3 agritech trust protocol combining EVM Solidity smart contracts, live eNAM/AgMarkNet Mandi price oracles, vernacular voice crop registration, and cryptographic QR provenance.</a:t>
            </a:r>
          </a:p>
        </p:txBody>
      </p:sp>
      <p:sp>
        <p:nvSpPr>
          <p:cNvPr id="8" name="Shape 6"/>
          <p:cNvSpPr/>
          <p:nvPr/>
        </p:nvSpPr>
        <p:spPr>
          <a:xfrm rot="2700000">
            <a:off x="1280160" y="3181138"/>
            <a:ext cx="91440" cy="914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3077281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150">
                <a:solidFill>
                  <a:srgbClr val="D91E27"/>
                </a:solidFill>
                <a:latin typeface="Calibri"/>
              </a:defRPr>
            </a:pPr>
            <a:r>
              <a:t>Describe how it directly addresses the problem stated earlier</a:t>
            </a:r>
            <a:endParaRPr lang="en-US" sz="150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900">
                <a:solidFill>
                  <a:srgbClr val="EBEBEB"/>
                </a:solidFill>
                <a:latin typeface="Calibri"/>
              </a:defRPr>
            </a:pPr>
            <a:r>
              <a:t>• Trustless Escrow automatically splits revenue (60% Farmer / 20% Trader / 15% Retailer / 5% Platform) upon delivery.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900">
                <a:solidFill>
                  <a:srgbClr val="EBEBEB"/>
                </a:solidFill>
                <a:latin typeface="Calibri"/>
              </a:defRPr>
            </a:pPr>
            <a:r>
              <a:t>• Vernacular Voice AI enables rural farmers to register crops speaking naturally in Hindi, Tamil, or English.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900">
                <a:solidFill>
                  <a:srgbClr val="EBEBEB"/>
                </a:solidFill>
                <a:latin typeface="Calibri"/>
              </a:defRPr>
            </a:pPr>
            <a:r>
              <a:t>• Cryptographic QR codes eliminate counterfeit produce with instant mobile verification alerts.</a:t>
            </a:r>
          </a:p>
        </p:txBody>
      </p:sp>
      <p:sp>
        <p:nvSpPr>
          <p:cNvPr id="10" name="Shape 8"/>
          <p:cNvSpPr/>
          <p:nvPr/>
        </p:nvSpPr>
        <p:spPr>
          <a:xfrm rot="2700000">
            <a:off x="1276004" y="4141401"/>
            <a:ext cx="91440" cy="914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4057261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  <a:spcAft>
                <a:spcPts val="200"/>
              </a:spcAft>
              <a:defRPr b="1" sz="1150">
                <a:solidFill>
                  <a:srgbClr val="D91E27"/>
                </a:solidFill>
                <a:latin typeface="Calibri"/>
              </a:defRPr>
            </a:pPr>
            <a:r>
              <a:t>Unique Selling Proposition/Novelty of your Solution</a:t>
            </a:r>
            <a:endParaRPr lang="en-US" sz="1500" dirty="0">
              <a:solidFill>
                <a:schemeClr val="bg1"/>
              </a:solidFill>
            </a:endParaRPr>
          </a:p>
          <a:p>
            <a:pPr>
              <a:lnSpc>
                <a:spcPct val="105000"/>
              </a:lnSpc>
              <a:spcAft>
                <a:spcPts val="200"/>
              </a:spcAft>
              <a:defRPr b="0" sz="900">
                <a:solidFill>
                  <a:srgbClr val="EBEBEB"/>
                </a:solidFill>
                <a:latin typeface="Calibri"/>
              </a:defRPr>
            </a:pPr>
            <a:r>
              <a:t>• Dual-Trust Protocol: Cryptographic anti-tamper QR provenance + Live APMC Mandi fair benchmark oracle.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900">
                <a:solidFill>
                  <a:srgbClr val="EBEBEB"/>
                </a:solidFill>
                <a:latin typeface="Calibri"/>
              </a:defRPr>
            </a:pPr>
            <a:r>
              <a:t>• Real-Time Anomaly &amp; Fraud Detection Engine flagging predatory price spikes (&gt;50% above fair benchmark).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900">
                <a:solidFill>
                  <a:srgbClr val="EBEBEB"/>
                </a:solidFill>
                <a:latin typeface="Calibri"/>
              </a:defRPr>
            </a:pPr>
            <a:r>
              <a:t>• Public Testnet Explorer Verification (Etherscan/Basescan) for 100% transparent digital trust.</a:t>
            </a:r>
          </a:p>
        </p:txBody>
      </p:sp>
      <p:sp>
        <p:nvSpPr>
          <p:cNvPr id="12" name="Shape 10"/>
          <p:cNvSpPr/>
          <p:nvPr/>
        </p:nvSpPr>
        <p:spPr>
          <a:xfrm>
            <a:off x="1280160" y="5166360"/>
            <a:ext cx="3017520" cy="548640"/>
          </a:xfrm>
          <a:prstGeom prst="rect">
            <a:avLst/>
          </a:prstGeom>
          <a:solidFill>
            <a:srgbClr val="1E1717"/>
          </a:solidFill>
          <a:ln w="9525">
            <a:solidFill>
              <a:srgbClr val="D91E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5166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spcAft>
                <a:spcPts val="200"/>
              </a:spcAft>
              <a:buNone/>
              <a:defRPr b="1" sz="1100">
                <a:solidFill>
                  <a:srgbClr val="D91E27"/>
                </a:solidFill>
                <a:latin typeface="Calibri"/>
              </a:defRPr>
            </a:pPr>
            <a:r>
              <a:t>CORE FEATURE</a:t>
            </a:r>
            <a:endParaRPr lang="en-US" sz="105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850">
                <a:solidFill>
                  <a:srgbClr val="EBEBEB"/>
                </a:solidFill>
                <a:latin typeface="Calibri"/>
              </a:defRPr>
            </a:pPr>
            <a:r>
              <a:t>Decentralized Escrow Protocol with automated 60/20/15/5% split, Vernacular Voice AI crop listing, and tamper-proof QR provenance tracking.</a:t>
            </a:r>
          </a:p>
        </p:txBody>
      </p:sp>
      <p:sp>
        <p:nvSpPr>
          <p:cNvPr id="14" name="Shape 12"/>
          <p:cNvSpPr/>
          <p:nvPr/>
        </p:nvSpPr>
        <p:spPr>
          <a:xfrm>
            <a:off x="4572000" y="5166360"/>
            <a:ext cx="3017520" cy="548640"/>
          </a:xfrm>
          <a:prstGeom prst="rect">
            <a:avLst/>
          </a:prstGeom>
          <a:solidFill>
            <a:srgbClr val="1E1717"/>
          </a:solidFill>
          <a:ln w="9525">
            <a:solidFill>
              <a:srgbClr val="D91E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5166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spcAft>
                <a:spcPts val="200"/>
              </a:spcAft>
              <a:buNone/>
              <a:defRPr b="1" sz="1100">
                <a:solidFill>
                  <a:srgbClr val="D91E27"/>
                </a:solidFill>
                <a:latin typeface="Calibri"/>
              </a:defRPr>
            </a:pPr>
            <a:r>
              <a:t>KEY BENEFITS</a:t>
            </a:r>
            <a:endParaRPr lang="en-US" sz="105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850">
                <a:solidFill>
                  <a:srgbClr val="EBEBEB"/>
                </a:solidFill>
                <a:latin typeface="Calibri"/>
              </a:defRPr>
            </a:pPr>
            <a:r>
              <a:t>+40% higher farmer revenue realization, 0% payment default risk, real-time fair Mandi pricing, and 100% end-to-end food traceability.</a:t>
            </a:r>
          </a:p>
        </p:txBody>
      </p:sp>
      <p:sp>
        <p:nvSpPr>
          <p:cNvPr id="16" name="Shape 14"/>
          <p:cNvSpPr/>
          <p:nvPr/>
        </p:nvSpPr>
        <p:spPr>
          <a:xfrm>
            <a:off x="7863840" y="5166360"/>
            <a:ext cx="3017520" cy="548640"/>
          </a:xfrm>
          <a:prstGeom prst="rect">
            <a:avLst/>
          </a:prstGeom>
          <a:solidFill>
            <a:srgbClr val="1E1717"/>
          </a:solidFill>
          <a:ln w="9525">
            <a:solidFill>
              <a:srgbClr val="D91E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5166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spcAft>
                <a:spcPts val="200"/>
              </a:spcAft>
              <a:buNone/>
              <a:defRPr b="1" sz="1100">
                <a:solidFill>
                  <a:srgbClr val="D91E27"/>
                </a:solidFill>
                <a:latin typeface="Calibri"/>
              </a:defRPr>
            </a:pPr>
            <a:r>
              <a:t>TARGET USER</a:t>
            </a:r>
            <a:endParaRPr lang="en-US" sz="105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850">
                <a:solidFill>
                  <a:srgbClr val="EBEBEB"/>
                </a:solidFill>
                <a:latin typeface="Calibri"/>
              </a:defRPr>
            </a:pPr>
            <a:r>
              <a:t>Smallholder Farmers, Agri Intermediaries, Supermarket Retailers, and Health/Quality-conscious Consumers.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457200"/>
            <a:ext cx="320040" cy="25603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57200"/>
            <a:ext cx="25603" cy="3200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11712" y="6375197"/>
            <a:ext cx="320040" cy="25603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06149" y="6080760"/>
            <a:ext cx="25603" cy="3200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7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HACKWELL 2.0 - SARANATHAN COLLEGE OF ENGINEERING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0E24759-A2F9-2CEA-5CBD-C32F4AF73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342" y="145096"/>
            <a:ext cx="696779" cy="6967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Methodology &amp; Tech Stack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it work end to end?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120640" cy="3931920"/>
          </a:xfrm>
          <a:prstGeom prst="rect">
            <a:avLst/>
          </a:prstGeom>
          <a:solidFill>
            <a:srgbClr val="161010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234440" y="2615184"/>
            <a:ext cx="91440" cy="914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5146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150">
                <a:solidFill>
                  <a:srgbClr val="D91E27"/>
                </a:solidFill>
                <a:latin typeface="Calibri"/>
              </a:defRPr>
            </a:pPr>
            <a:r>
              <a:t>How will the solution work, step by step?</a:t>
            </a:r>
            <a:endParaRPr lang="en-US" sz="140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1. Farmer registers crop via Vernacular Voice AI in native language (HI/TA/EN).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2. Mandi Oracle benchmarks fair spot price &amp; mints batch on EVM blockchain.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3. Consumer/Buyer places order -&gt; Smart Escrow locks payment funds.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4. QR scanned across logistics -&gt; Delivery scan triggers instant 60% farmer payout.</a:t>
            </a:r>
          </a:p>
        </p:txBody>
      </p:sp>
      <p:sp>
        <p:nvSpPr>
          <p:cNvPr id="8" name="Shape 6"/>
          <p:cNvSpPr/>
          <p:nvPr/>
        </p:nvSpPr>
        <p:spPr>
          <a:xfrm rot="2700000">
            <a:off x="1234440" y="3666744"/>
            <a:ext cx="91440" cy="914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56616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150">
                <a:solidFill>
                  <a:srgbClr val="D91E27"/>
                </a:solidFill>
                <a:latin typeface="Calibri"/>
              </a:defRPr>
            </a:pPr>
            <a:r>
              <a:t>Technologies / tools / frameworks used</a:t>
            </a:r>
            <a:endParaRPr lang="en-US" sz="140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• Web3: Solidity 0.8.20, Hardhat, Ethers.js, Sepolia Testnet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• Frontend: Vite, Vanilla JS, Web Speech API (Voice AI), Responsive CSS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• Backend: Node.js, Express.js, Socket.io (2-event real-time sync)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• AI/ML: APMC Mandi Spot Rate Predictor &amp; Real-Time Fraud Spike Detector</a:t>
            </a:r>
          </a:p>
        </p:txBody>
      </p:sp>
      <p:sp>
        <p:nvSpPr>
          <p:cNvPr id="10" name="Shape 8"/>
          <p:cNvSpPr/>
          <p:nvPr/>
        </p:nvSpPr>
        <p:spPr>
          <a:xfrm rot="2700000">
            <a:off x="1234440" y="4718304"/>
            <a:ext cx="91440" cy="914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46177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  <a:spcAft>
                <a:spcPts val="200"/>
              </a:spcAft>
              <a:defRPr b="1" sz="1150">
                <a:solidFill>
                  <a:srgbClr val="D91E27"/>
                </a:solidFill>
                <a:latin typeface="Calibri"/>
              </a:defRPr>
            </a:pPr>
            <a:r>
              <a:t>Development approach - Implementation Strategy</a:t>
            </a:r>
            <a:endParaRPr lang="en-US" sz="1400" dirty="0">
              <a:solidFill>
                <a:schemeClr val="bg1"/>
              </a:solidFill>
            </a:endParaRPr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• Modular smart contract suite with OpenZeppelin security standards.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• Resilient local caching for zero-freeze live Mandi demo reliability.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• Strict Role-Based Access Control (RBAC) protecting all 5 dashboards.</a:t>
            </a:r>
          </a:p>
        </p:txBody>
      </p:sp>
      <p:sp>
        <p:nvSpPr>
          <p:cNvPr id="12" name="Shape 10"/>
          <p:cNvSpPr/>
          <p:nvPr/>
        </p:nvSpPr>
        <p:spPr>
          <a:xfrm>
            <a:off x="6309360" y="2148840"/>
            <a:ext cx="5056632" cy="3931920"/>
          </a:xfrm>
          <a:prstGeom prst="rect">
            <a:avLst/>
          </a:prstGeom>
          <a:solidFill>
            <a:srgbClr val="161010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404872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b="1" sz="1300">
                <a:solidFill>
                  <a:srgbClr val="D91E27"/>
                </a:solidFill>
              </a:defRPr>
            </a:pPr>
            <a:r>
              <a:t>TECH STACK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2834640"/>
            <a:ext cx="4416552" cy="566928"/>
          </a:xfrm>
          <a:prstGeom prst="rect">
            <a:avLst/>
          </a:prstGeom>
          <a:solidFill>
            <a:srgbClr val="7A0E14"/>
          </a:solidFill>
          <a:ln w="9525">
            <a:solidFill>
              <a:srgbClr val="D91E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834640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spcAft>
                <a:spcPts val="200"/>
              </a:spcAft>
              <a:buNone/>
              <a:defRPr b="1" sz="1000">
                <a:solidFill>
                  <a:srgbClr val="D91E27"/>
                </a:solidFill>
                <a:latin typeface="Calibri"/>
              </a:defRPr>
            </a:pPr>
            <a:r>
              <a:t>UI / Frontend</a:t>
            </a:r>
            <a:endParaRPr lang="en-US" sz="125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850">
                <a:solidFill>
                  <a:srgbClr val="EBEBEB"/>
                </a:solidFill>
                <a:latin typeface="Calibri"/>
              </a:defRPr>
            </a:pPr>
            <a:r>
              <a:t>Vite + Vanilla JS, Web Speech API (Voice AI), Lucide Icons, Glassmorphic CSS</a:t>
            </a:r>
          </a:p>
        </p:txBody>
      </p:sp>
      <p:sp>
        <p:nvSpPr>
          <p:cNvPr id="16" name="Shape 14"/>
          <p:cNvSpPr/>
          <p:nvPr/>
        </p:nvSpPr>
        <p:spPr>
          <a:xfrm>
            <a:off x="6629400" y="3566160"/>
            <a:ext cx="4416552" cy="566928"/>
          </a:xfrm>
          <a:prstGeom prst="rect">
            <a:avLst/>
          </a:prstGeom>
          <a:solidFill>
            <a:srgbClr val="2A2020"/>
          </a:solidFill>
          <a:ln w="9525">
            <a:solidFill>
              <a:srgbClr val="D91E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566160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spcAft>
                <a:spcPts val="200"/>
              </a:spcAft>
              <a:buNone/>
              <a:defRPr b="1" sz="1000">
                <a:solidFill>
                  <a:srgbClr val="D91E27"/>
                </a:solidFill>
                <a:latin typeface="Calibri"/>
              </a:defRPr>
            </a:pPr>
            <a:r>
              <a:t>Backend &amp; Real-Time</a:t>
            </a:r>
            <a:endParaRPr lang="en-US" sz="125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850">
                <a:solidFill>
                  <a:srgbClr val="EBEBEB"/>
                </a:solidFill>
                <a:latin typeface="Calibri"/>
              </a:defRPr>
            </a:pPr>
            <a:r>
              <a:t>Node.js, Express.js, Socket.io (Live Sync), eNAM &amp; AgMarkNet Mandi Oracles</a:t>
            </a:r>
          </a:p>
        </p:txBody>
      </p:sp>
      <p:sp>
        <p:nvSpPr>
          <p:cNvPr id="18" name="Shape 16"/>
          <p:cNvSpPr/>
          <p:nvPr/>
        </p:nvSpPr>
        <p:spPr>
          <a:xfrm>
            <a:off x="6629400" y="4297680"/>
            <a:ext cx="4416552" cy="566928"/>
          </a:xfrm>
          <a:prstGeom prst="rect">
            <a:avLst/>
          </a:prstGeom>
          <a:solidFill>
            <a:srgbClr val="7A0E14"/>
          </a:solidFill>
          <a:ln w="9525">
            <a:solidFill>
              <a:srgbClr val="D91E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4297680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spcAft>
                <a:spcPts val="200"/>
              </a:spcAft>
              <a:buNone/>
              <a:defRPr b="1" sz="1000">
                <a:solidFill>
                  <a:srgbClr val="D91E27"/>
                </a:solidFill>
                <a:latin typeface="Calibri"/>
              </a:defRPr>
            </a:pPr>
            <a:r>
              <a:t>Database &amp; Ledger</a:t>
            </a:r>
            <a:endParaRPr lang="en-US" sz="125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850">
                <a:solidFill>
                  <a:srgbClr val="EBEBEB"/>
                </a:solidFill>
                <a:latin typeface="Calibri"/>
              </a:defRPr>
            </a:pPr>
            <a:r>
              <a:t>Ethereum Sepolia / EVM Ledger, LocalStorage Cache, In-Memory State</a:t>
            </a:r>
          </a:p>
        </p:txBody>
      </p:sp>
      <p:sp>
        <p:nvSpPr>
          <p:cNvPr id="20" name="Shape 18"/>
          <p:cNvSpPr/>
          <p:nvPr/>
        </p:nvSpPr>
        <p:spPr>
          <a:xfrm>
            <a:off x="6629400" y="5029200"/>
            <a:ext cx="4416552" cy="566928"/>
          </a:xfrm>
          <a:prstGeom prst="rect">
            <a:avLst/>
          </a:prstGeom>
          <a:solidFill>
            <a:srgbClr val="2A2020"/>
          </a:solidFill>
          <a:ln w="9525">
            <a:solidFill>
              <a:srgbClr val="D91E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5029200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  <a:defRPr b="1" sz="1000">
                <a:solidFill>
                  <a:srgbClr val="D91E27"/>
                </a:solidFill>
                <a:latin typeface="Calibri"/>
              </a:defRPr>
            </a:pPr>
            <a:r>
              <a:t>Core Logic (AI &amp; Web3)</a:t>
            </a:r>
            <a:endParaRPr lang="en-US" sz="125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850">
                <a:solidFill>
                  <a:srgbClr val="EBEBEB"/>
                </a:solidFill>
                <a:latin typeface="Calibri"/>
              </a:defRPr>
            </a:pPr>
            <a:r>
              <a:t>Solidity Escrow &amp; Quality Contracts, APMC Price ML, Fraud Anomaly Detector</a:t>
            </a:r>
          </a:p>
        </p:txBody>
      </p:sp>
      <p:sp>
        <p:nvSpPr>
          <p:cNvPr id="22" name="Shape 20"/>
          <p:cNvSpPr/>
          <p:nvPr/>
        </p:nvSpPr>
        <p:spPr>
          <a:xfrm>
            <a:off x="457200" y="457200"/>
            <a:ext cx="320040" cy="25603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57200"/>
            <a:ext cx="25603" cy="3200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11712" y="6375197"/>
            <a:ext cx="320040" cy="25603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06149" y="6080760"/>
            <a:ext cx="25603" cy="3200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7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HACKWELL 2.0 - SARANATHAN COLLEGE OF ENGINEERING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D1C789D-0750-C220-0A4B-D4A5E5812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342" y="145096"/>
            <a:ext cx="696779" cy="6967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System Architecture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us how the pieces fit together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6949440" cy="3931920"/>
          </a:xfrm>
          <a:prstGeom prst="rect">
            <a:avLst/>
          </a:prstGeom>
          <a:solidFill>
            <a:srgbClr val="161010"/>
          </a:solidFill>
          <a:ln w="12700">
            <a:solidFill>
              <a:srgbClr val="D91E2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188720" y="37947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38160" y="2148840"/>
            <a:ext cx="3227832" cy="3931920"/>
          </a:xfrm>
          <a:prstGeom prst="rect">
            <a:avLst/>
          </a:prstGeom>
          <a:solidFill>
            <a:srgbClr val="7A0E14">
              <a:alpha val="45000"/>
            </a:srgbClr>
          </a:solidFill>
          <a:ln w="12700">
            <a:solidFill>
              <a:srgbClr val="D91E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244144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b="1" sz="1300">
                <a:solidFill>
                  <a:srgbClr val="D91E27"/>
                </a:solidFill>
              </a:defRPr>
            </a:pPr>
            <a:r>
              <a:t>SYSTEM HIGHLIGHTS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2700000">
            <a:off x="8412480" y="2935224"/>
            <a:ext cx="91440" cy="914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10" name="Text 8"/>
          <p:cNvSpPr/>
          <p:nvPr/>
        </p:nvSpPr>
        <p:spPr>
          <a:xfrm>
            <a:off x="8641080" y="283464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050">
                <a:solidFill>
                  <a:srgbClr val="D91E27"/>
                </a:solidFill>
                <a:latin typeface="Calibri"/>
              </a:defRPr>
            </a:pPr>
            <a:r>
              <a:t>Basic Workflow &amp; System Flow</a:t>
            </a:r>
            <a:endParaRPr lang="en-US" sz="125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850">
                <a:solidFill>
                  <a:srgbClr val="EBEBEB"/>
                </a:solidFill>
                <a:latin typeface="Calibri"/>
              </a:defRPr>
            </a:pPr>
            <a:r>
              <a:t>Seamless pipeline from vernacular voice listing to automated escrow lock, real-time tracking, and instant cryptographic settlement upon QR delivery scan.</a:t>
            </a:r>
          </a:p>
        </p:txBody>
      </p:sp>
      <p:sp>
        <p:nvSpPr>
          <p:cNvPr id="11" name="Shape 9"/>
          <p:cNvSpPr/>
          <p:nvPr/>
        </p:nvSpPr>
        <p:spPr>
          <a:xfrm rot="2700000">
            <a:off x="8412480" y="3712464"/>
            <a:ext cx="91440" cy="914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41080" y="361188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050">
                <a:solidFill>
                  <a:srgbClr val="D91E27"/>
                </a:solidFill>
                <a:latin typeface="Calibri"/>
              </a:defRPr>
            </a:pPr>
            <a:r>
              <a:t>Data Flow Between Components</a:t>
            </a:r>
            <a:endParaRPr lang="en-US" sz="125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850">
                <a:solidFill>
                  <a:srgbClr val="EBEBEB"/>
                </a:solidFill>
                <a:latin typeface="Calibri"/>
              </a:defRPr>
            </a:pPr>
            <a:r>
              <a:t>Real-time bidirectional WebSocket events (ORDER_PLACED, ORDER_STATUS_CHANGED) coupled with immutable on-chain state updates.</a:t>
            </a:r>
          </a:p>
        </p:txBody>
      </p:sp>
      <p:sp>
        <p:nvSpPr>
          <p:cNvPr id="13" name="Shape 11"/>
          <p:cNvSpPr/>
          <p:nvPr/>
        </p:nvSpPr>
        <p:spPr>
          <a:xfrm rot="2700000">
            <a:off x="8412480" y="4489704"/>
            <a:ext cx="91440" cy="914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14" name="Text 12"/>
          <p:cNvSpPr/>
          <p:nvPr/>
        </p:nvSpPr>
        <p:spPr>
          <a:xfrm>
            <a:off x="8641080" y="438912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050">
                <a:solidFill>
                  <a:srgbClr val="D91E27"/>
                </a:solidFill>
                <a:latin typeface="Calibri"/>
              </a:defRPr>
            </a:pPr>
            <a:r>
              <a:t>Feasibility &amp; Live Prototype</a:t>
            </a:r>
            <a:endParaRPr lang="en-US" sz="125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850">
                <a:solidFill>
                  <a:srgbClr val="EBEBEB"/>
                </a:solidFill>
                <a:latin typeface="Calibri"/>
              </a:defRPr>
            </a:pPr>
            <a:r>
              <a:t>Fully functional live working prototype on Sepolia testnet, with live Etherscan verification, zero paid API dependencies, and offline resilience.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457200"/>
            <a:ext cx="320040" cy="25603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57200"/>
            <a:ext cx="25603" cy="3200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11712" y="6375197"/>
            <a:ext cx="320040" cy="25603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18" name="Shape 16"/>
          <p:cNvSpPr/>
          <p:nvPr/>
        </p:nvSpPr>
        <p:spPr>
          <a:xfrm>
            <a:off x="11706149" y="6080760"/>
            <a:ext cx="25603" cy="3200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7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HACKWELL 2.0 - SARANATHAN COLLEGE OF ENGINEERING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A83E26C-E558-A022-D4EC-FC7205CDF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342" y="145096"/>
            <a:ext cx="696779" cy="696779"/>
          </a:xfrm>
          <a:prstGeom prst="rect">
            <a:avLst/>
          </a:prstGeom>
        </p:spPr>
      </p:pic>
      <p:pic>
        <p:nvPicPr>
          <p:cNvPr id="23" name="Picture 22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76272"/>
            <a:ext cx="69037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Impact &amp; Viability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benefits, and how?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1600200"/>
          </a:xfrm>
          <a:prstGeom prst="rect">
            <a:avLst/>
          </a:prstGeom>
          <a:solidFill>
            <a:srgbClr val="161010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350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b="1" sz="1300">
                <a:solidFill>
                  <a:srgbClr val="D91E27"/>
                </a:solidFill>
              </a:defRPr>
            </a:pPr>
            <a:r>
              <a:t>EXPECTED IMPACT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2700000">
            <a:off x="1188720" y="2770632"/>
            <a:ext cx="91440" cy="914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670048"/>
            <a:ext cx="9555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050">
                <a:solidFill>
                  <a:srgbClr val="D91E27"/>
                </a:solidFill>
                <a:latin typeface="Calibri"/>
              </a:defRPr>
            </a:pPr>
            <a:r>
              <a:t>Who will benefit from this solution?</a:t>
            </a:r>
            <a:endParaRPr lang="en-US" sz="130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• 140M+ Indian smallholder farmers gain direct market access, fair pricing, and immediate digital payment settlements.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• Consumers get 100% verified, authentic produce with full farm-to-table transparency and zero counterfeit risk.</a:t>
            </a:r>
          </a:p>
        </p:txBody>
      </p:sp>
      <p:sp>
        <p:nvSpPr>
          <p:cNvPr id="9" name="Shape 7"/>
          <p:cNvSpPr/>
          <p:nvPr/>
        </p:nvSpPr>
        <p:spPr>
          <a:xfrm rot="2700000">
            <a:off x="1188720" y="3136392"/>
            <a:ext cx="91440" cy="914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035808"/>
            <a:ext cx="9555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050">
                <a:solidFill>
                  <a:srgbClr val="D91E27"/>
                </a:solidFill>
                <a:latin typeface="Calibri"/>
              </a:defRPr>
            </a:pPr>
            <a:r>
              <a:t>Social, Economic &amp; Environmental Impact</a:t>
            </a:r>
            <a:endParaRPr lang="en-US" sz="130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• Economic: Eliminates 40–60% predatory middlemen cuts; guarantees 60% revenue distribution to farmers.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• Social: Empowers non-tech rural farmers via vernacular voice AI in their native languages.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• Environmental: Cold-chain tracking reduces post-harvest transit spoilage and food waste.</a:t>
            </a:r>
          </a:p>
        </p:txBody>
      </p:sp>
      <p:sp>
        <p:nvSpPr>
          <p:cNvPr id="11" name="Shape 9"/>
          <p:cNvSpPr/>
          <p:nvPr/>
        </p:nvSpPr>
        <p:spPr>
          <a:xfrm rot="2700000">
            <a:off x="1188720" y="3502152"/>
            <a:ext cx="91440" cy="914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3401568"/>
            <a:ext cx="9555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1" sz="1050">
                <a:solidFill>
                  <a:srgbClr val="D91E27"/>
                </a:solidFill>
                <a:latin typeface="Calibri"/>
              </a:defRPr>
            </a:pPr>
            <a:r>
              <a:t>Measurable Outcomes You Expect</a:t>
            </a:r>
            <a:endParaRPr lang="en-US" sz="1300" dirty="0"/>
          </a:p>
          <a:p>
            <a:pPr>
              <a:lnSpc>
                <a:spcPct val="105000"/>
              </a:lnSpc>
              <a:spcAft>
                <a:spcPts val="200"/>
              </a:spcAft>
              <a:defRPr b="0" sz="880">
                <a:solidFill>
                  <a:srgbClr val="EBEBEB"/>
                </a:solidFill>
                <a:latin typeface="Calibri"/>
              </a:defRPr>
            </a:pPr>
            <a:r>
              <a:t>• +40% increase in farmer profit margins | 0% payment fraud/default risk | 100% cryptographic batch provenance.</a:t>
            </a:r>
          </a:p>
        </p:txBody>
      </p:sp>
      <p:sp>
        <p:nvSpPr>
          <p:cNvPr id="13" name="Shape 11"/>
          <p:cNvSpPr/>
          <p:nvPr/>
        </p:nvSpPr>
        <p:spPr>
          <a:xfrm>
            <a:off x="836676" y="4069080"/>
            <a:ext cx="3291840" cy="1965960"/>
          </a:xfrm>
          <a:prstGeom prst="rect">
            <a:avLst/>
          </a:prstGeom>
          <a:solidFill>
            <a:srgbClr val="7A0E14">
              <a:alpha val="45000"/>
            </a:srgbClr>
          </a:solidFill>
          <a:ln w="12700">
            <a:solidFill>
              <a:srgbClr val="D91E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5276" y="4270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b="1" sz="1100">
                <a:solidFill>
                  <a:srgbClr val="D91E27"/>
                </a:solidFill>
              </a:defRPr>
            </a:pPr>
            <a:r>
              <a:t>USE CASE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65276" y="4690872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0" sz="850">
                <a:solidFill>
                  <a:srgbClr val="EBEBEB"/>
                </a:solidFill>
                <a:latin typeface="Calibri"/>
              </a:defRPr>
            </a:pPr>
            <a:r>
              <a:t>A Tamil Nadu farmer speaks in Tamil: '500kg Basmati Rice at ₹48'. Smart contract mints batch. Consumer buys produce, escrow locks payment, and funds release instantly to farmer upon QR scan on delivery.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48556" y="4069080"/>
            <a:ext cx="3291840" cy="1965960"/>
          </a:xfrm>
          <a:prstGeom prst="rect">
            <a:avLst/>
          </a:prstGeom>
          <a:solidFill>
            <a:srgbClr val="7A0E14">
              <a:alpha val="45000"/>
            </a:srgbClr>
          </a:solidFill>
          <a:ln w="12700">
            <a:solidFill>
              <a:srgbClr val="D91E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7156" y="4270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b="1" sz="1100">
                <a:solidFill>
                  <a:srgbClr val="D91E27"/>
                </a:solidFill>
              </a:defRPr>
            </a:pPr>
            <a:r>
              <a:t>SCALABILITY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77156" y="4690872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  <a:spcAft>
                <a:spcPts val="200"/>
              </a:spcAft>
              <a:defRPr b="0" sz="850">
                <a:solidFill>
                  <a:srgbClr val="EBEBEB"/>
                </a:solidFill>
                <a:latin typeface="Calibri"/>
              </a:defRPr>
            </a:pPr>
            <a:r>
              <a:t>Layer-2 Rollup / Polygon / Base EVM compatibility for sub-cent gas fees and high transaction throughput. Decoupled microservices scaling across thousands of mandis nationwide.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60436" y="4069080"/>
            <a:ext cx="3291840" cy="1965960"/>
          </a:xfrm>
          <a:prstGeom prst="rect">
            <a:avLst/>
          </a:prstGeom>
          <a:solidFill>
            <a:srgbClr val="7A0E14">
              <a:alpha val="45000"/>
            </a:srgbClr>
          </a:solidFill>
          <a:ln w="12700">
            <a:solidFill>
              <a:srgbClr val="D91E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9036" y="4270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b="1" sz="1100">
                <a:solidFill>
                  <a:srgbClr val="D91E27"/>
                </a:solidFill>
              </a:defRPr>
            </a:pPr>
            <a:r>
              <a:t>FEASIBILITY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89036" y="4690872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  <a:defRPr b="0" sz="850">
                <a:solidFill>
                  <a:srgbClr val="EBEBEB"/>
                </a:solidFill>
                <a:latin typeface="Calibri"/>
              </a:defRPr>
            </a:pPr>
            <a:r>
              <a:t>Utilizes existing mobile browsers and standard cameras for QR scanning—no custom hardware needed. Zero learning curve due to intuitive vernacular voice assistance.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"/>
            <a:ext cx="320040" cy="25603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57200"/>
            <a:ext cx="25603" cy="3200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11712" y="6375197"/>
            <a:ext cx="320040" cy="25603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06149" y="6080760"/>
            <a:ext cx="25603" cy="3200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7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HACKWELL 2.0 - SARANATHAN COLLEGE OF ENGINEERING</a:t>
            </a:r>
            <a:endParaRPr lang="en-US" sz="9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007D87D1-693A-BE8C-BF26-DA8E7532FE0D}"/>
              </a:ext>
            </a:extLst>
          </p:cNvPr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699D7E6-560E-7A2E-1FEA-7C0B1A19A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342" y="145096"/>
            <a:ext cx="696779" cy="6967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"/>
            <a:ext cx="320040" cy="25603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57200"/>
            <a:ext cx="25603" cy="3200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11712" y="6375197"/>
            <a:ext cx="320040" cy="25603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06149" y="6080760"/>
            <a:ext cx="25603" cy="320040"/>
          </a:xfrm>
          <a:prstGeom prst="rect">
            <a:avLst/>
          </a:prstGeom>
          <a:solidFill>
            <a:srgbClr val="D91E2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7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HACKWELL 2.0 - SARANATHAN COLLEGE OF ENGINEERING</a:t>
            </a:r>
            <a:endParaRPr lang="en-US" sz="9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007D87D1-693A-BE8C-BF26-DA8E7532FE0D}"/>
              </a:ext>
            </a:extLst>
          </p:cNvPr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9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755" y="2317794"/>
            <a:ext cx="3450021" cy="345002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2" name="Rectangle 31"/>
          <p:cNvSpPr/>
          <p:nvPr/>
        </p:nvSpPr>
        <p:spPr>
          <a:xfrm>
            <a:off x="3108960" y="1320581"/>
            <a:ext cx="59036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286000" y="210312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400">
                <a:solidFill>
                  <a:srgbClr val="D91E27"/>
                </a:solidFill>
                <a:latin typeface="Calibri"/>
              </a:defRPr>
            </a:pPr>
            <a:r>
              <a:t>Team: The Knowledge Knights  |  Theme: Cybersecurity &amp; Digital Trust</a:t>
            </a:r>
          </a:p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t>PS ID: CDT-09 - FarmChain AI: Blockchain-Based Transparent Marketplace</a:t>
            </a:r>
          </a:p>
          <a:p>
            <a:pPr algn="ctr">
              <a:defRPr sz="1100">
                <a:solidFill>
                  <a:srgbClr val="C8C8C8"/>
                </a:solidFill>
                <a:latin typeface="Calibri"/>
              </a:defRPr>
            </a:pPr>
            <a:r>
              <a:t>Harish Raghavendra V (Lead) • Shanmugasundaram G • Radhika S • Sujith Chavan</a:t>
            </a:r>
          </a:p>
        </p:txBody>
      </p:sp>
    </p:spTree>
    <p:extLst>
      <p:ext uri="{BB962C8B-B14F-4D97-AF65-F5344CB8AC3E}">
        <p14:creationId xmlns:p14="http://schemas.microsoft.com/office/powerpoint/2010/main" val="3795567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390</Words>
  <Application>Microsoft Office PowerPoint</Application>
  <PresentationFormat>Widescreen</PresentationFormat>
  <Paragraphs>85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ROHITH R V</cp:lastModifiedBy>
  <cp:revision>15</cp:revision>
  <dcterms:created xsi:type="dcterms:W3CDTF">2026-08-09T12:33:58Z</dcterms:created>
  <dcterms:modified xsi:type="dcterms:W3CDTF">2026-08-19T09:22:00Z</dcterms:modified>
</cp:coreProperties>
</file>